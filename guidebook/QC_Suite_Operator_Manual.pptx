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1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[ LOGO ASKI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QC SUITE</a:t>
            </a:r>
          </a:p>
          <a:p>
            <a:pPr>
              <a:defRPr sz="2000">
                <a:solidFill>
                  <a:srgbClr val="63B3ED"/>
                </a:solidFill>
                <a:latin typeface="Calibri"/>
              </a:defRPr>
            </a:pPr>
            <a:r>
              <a:t>Operator Manual Book — Sistem Inspeksi QC Sticker &amp; Component Counter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PT ASKI  —  Versi 1.0  —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Daftar 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1. Gambaran Umum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2. Persiapan Operasional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3. Alur Operasional Dasar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4. Mode QC Sticker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5. Mode Component Counter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6. Troubleshooting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7. Status Badge &amp; Indikator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1. Gambaran Umum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QC Suite = sistem inspeksi visual berbasis AI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Kamera + YOLO untuk deteksi &amp; klasifikasi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Dua mode: QC Sticker &amp; Component Counter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Arsitektur: Backend (Flask) + Client (Tkinter)</a:t>
            </a:r>
          </a:p>
          <a:p>
            <a:pPr>
              <a:spcAft>
                <a:spcPts val="600"/>
              </a:spcAft>
              <a:defRPr sz="1400">
                <a:solidFill>
                  <a:srgbClr val="1A202C"/>
                </a:solidFill>
                <a:latin typeface="Calibri"/>
              </a:defRPr>
            </a:pPr>
            <a:r>
              <a:t>Fitur: Live View, Counter Panel, PLC, Auto-reconnect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2.1 Persiapan Template (Admin)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1. </a:t>
            </a:r>
            <a:r>
              <a:rPr sz="1300" dirty="0">
                <a:solidFill>
                  <a:srgbClr val="1A202C"/>
                </a:solidFill>
                <a:latin typeface="Calibri"/>
              </a:rPr>
              <a:t>Login Admin → Tab 'Presets' → 'New Preset'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2.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Pilih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Validation Mode: QC Sticker</a:t>
            </a:r>
            <a:endParaRPr lang="en-US" sz="1300" dirty="0">
              <a:solidFill>
                <a:srgbClr val="1A202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ID" sz="1300" b="1" dirty="0">
                <a:solidFill>
                  <a:srgbClr val="1A202C"/>
                </a:solidFill>
                <a:latin typeface="Calibri"/>
              </a:rPr>
              <a:t>  </a:t>
            </a:r>
            <a:r>
              <a:rPr sz="1300" b="1" dirty="0">
                <a:solidFill>
                  <a:srgbClr val="2B6CB0"/>
                </a:solidFill>
                <a:latin typeface="Calibri"/>
              </a:rPr>
              <a:t>3.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Pilih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Model YOLO → Atur Part Ready ROI &amp; Sticker ROI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4. </a:t>
            </a:r>
            <a:r>
              <a:rPr sz="1300" dirty="0">
                <a:solidFill>
                  <a:srgbClr val="1A202C"/>
                </a:solidFill>
                <a:latin typeface="Calibri"/>
              </a:rPr>
              <a:t>Untuk Component Counter: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tambah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ROI + class targets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5. </a:t>
            </a:r>
            <a:r>
              <a:rPr sz="1300" dirty="0">
                <a:solidFill>
                  <a:srgbClr val="1A202C"/>
                </a:solidFill>
                <a:latin typeface="Calibri"/>
              </a:rPr>
              <a:t>Capture Reference </a:t>
            </a:r>
            <a:endParaRPr lang="en-US" sz="1300" dirty="0">
              <a:solidFill>
                <a:srgbClr val="1A202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lang="en-ID" sz="1300" b="1" dirty="0">
                <a:solidFill>
                  <a:srgbClr val="1A202C"/>
                </a:solidFill>
                <a:latin typeface="Calibri"/>
              </a:rPr>
              <a:t>  </a:t>
            </a:r>
            <a:r>
              <a:rPr sz="1300" b="1" dirty="0">
                <a:solidFill>
                  <a:srgbClr val="2B6CB0"/>
                </a:solidFill>
                <a:latin typeface="Calibri"/>
              </a:rPr>
              <a:t>6.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Klik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'Save &amp; Deploy Preset'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EA839-843A-1AAA-1210-A325BF6873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813" r="27031" b="37772"/>
          <a:stretch>
            <a:fillRect/>
          </a:stretch>
        </p:blipFill>
        <p:spPr>
          <a:xfrm>
            <a:off x="620237" y="2764168"/>
            <a:ext cx="1816100" cy="14070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627FC8-F226-936F-8177-BA93A7D61F6E}"/>
              </a:ext>
            </a:extLst>
          </p:cNvPr>
          <p:cNvSpPr txBox="1"/>
          <p:nvPr/>
        </p:nvSpPr>
        <p:spPr>
          <a:xfrm>
            <a:off x="1158875" y="3521075"/>
            <a:ext cx="6286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admin123</a:t>
            </a:r>
            <a:endParaRPr lang="en-ID" sz="8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6F4C89-77A0-E562-B52F-EDA7C0EE86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1051"/>
          <a:stretch>
            <a:fillRect/>
          </a:stretch>
        </p:blipFill>
        <p:spPr>
          <a:xfrm>
            <a:off x="2576275" y="3127092"/>
            <a:ext cx="2244090" cy="68123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1210D25-83AB-815C-745D-BACD606E7B83}"/>
              </a:ext>
            </a:extLst>
          </p:cNvPr>
          <p:cNvCxnSpPr>
            <a:cxnSpLocks/>
          </p:cNvCxnSpPr>
          <p:nvPr/>
        </p:nvCxnSpPr>
        <p:spPr>
          <a:xfrm>
            <a:off x="3969544" y="3558382"/>
            <a:ext cx="142875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78DC0CE-B047-D532-301A-894E540DBEA9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>
            <a:off x="2436337" y="3467710"/>
            <a:ext cx="1399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ACCC65C4-51CA-77AD-94DB-907CF6E0F4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7771" y="2310245"/>
            <a:ext cx="2550787" cy="2314927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208A2A8-3E08-D8BF-B4C1-85959C687A00}"/>
              </a:ext>
            </a:extLst>
          </p:cNvPr>
          <p:cNvCxnSpPr>
            <a:cxnSpLocks/>
            <a:stCxn id="9" idx="3"/>
            <a:endCxn id="20" idx="1"/>
          </p:cNvCxnSpPr>
          <p:nvPr/>
        </p:nvCxnSpPr>
        <p:spPr>
          <a:xfrm flipV="1">
            <a:off x="4820365" y="3467709"/>
            <a:ext cx="19740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21DF510-06DF-9809-FDC9-A35662C5770F}"/>
              </a:ext>
            </a:extLst>
          </p:cNvPr>
          <p:cNvCxnSpPr>
            <a:cxnSpLocks/>
            <a:endCxn id="49" idx="0"/>
          </p:cNvCxnSpPr>
          <p:nvPr/>
        </p:nvCxnSpPr>
        <p:spPr>
          <a:xfrm flipH="1">
            <a:off x="2013188" y="4330206"/>
            <a:ext cx="1" cy="1416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3C5F6F5-A4FD-16EF-2E0E-94B5750679C8}"/>
              </a:ext>
            </a:extLst>
          </p:cNvPr>
          <p:cNvCxnSpPr>
            <a:cxnSpLocks/>
            <a:stCxn id="20" idx="2"/>
          </p:cNvCxnSpPr>
          <p:nvPr/>
        </p:nvCxnSpPr>
        <p:spPr>
          <a:xfrm>
            <a:off x="6293165" y="4625172"/>
            <a:ext cx="0" cy="17542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5D0A85A-281B-FD82-A7AF-D2733394C2AB}"/>
              </a:ext>
            </a:extLst>
          </p:cNvPr>
          <p:cNvCxnSpPr>
            <a:cxnSpLocks/>
          </p:cNvCxnSpPr>
          <p:nvPr/>
        </p:nvCxnSpPr>
        <p:spPr>
          <a:xfrm flipH="1">
            <a:off x="3505200" y="4785359"/>
            <a:ext cx="276843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9" name="Picture 48">
            <a:extLst>
              <a:ext uri="{FF2B5EF4-FFF2-40B4-BE49-F238E27FC236}">
                <a16:creationId xmlns:a16="http://schemas.microsoft.com/office/drawing/2014/main" id="{B8FDB524-9DA7-3225-EF2B-7BD9B3F4B5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236" y="4471876"/>
            <a:ext cx="2785903" cy="2154261"/>
          </a:xfrm>
          <a:prstGeom prst="rect">
            <a:avLst/>
          </a:prstGeom>
        </p:spPr>
      </p:pic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B5B1009-2EED-FA6E-6DC4-41DE30568095}"/>
              </a:ext>
            </a:extLst>
          </p:cNvPr>
          <p:cNvCxnSpPr>
            <a:cxnSpLocks/>
          </p:cNvCxnSpPr>
          <p:nvPr/>
        </p:nvCxnSpPr>
        <p:spPr>
          <a:xfrm>
            <a:off x="3505200" y="4312920"/>
            <a:ext cx="0" cy="46577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7B94A26-B90A-31D7-1678-B07F29EB126E}"/>
              </a:ext>
            </a:extLst>
          </p:cNvPr>
          <p:cNvCxnSpPr>
            <a:cxnSpLocks/>
          </p:cNvCxnSpPr>
          <p:nvPr/>
        </p:nvCxnSpPr>
        <p:spPr>
          <a:xfrm>
            <a:off x="2013189" y="4312920"/>
            <a:ext cx="149201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0B21CC5E-C629-9F95-4F48-40C2EC4353AB}"/>
              </a:ext>
            </a:extLst>
          </p:cNvPr>
          <p:cNvSpPr txBox="1"/>
          <p:nvPr/>
        </p:nvSpPr>
        <p:spPr>
          <a:xfrm>
            <a:off x="2641213" y="4898618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1</a:t>
            </a:r>
            <a:endParaRPr lang="en-ID" sz="800" b="1" dirty="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AB8B43-5D93-FD32-BDCB-754F759574DD}"/>
              </a:ext>
            </a:extLst>
          </p:cNvPr>
          <p:cNvSpPr txBox="1"/>
          <p:nvPr/>
        </p:nvSpPr>
        <p:spPr>
          <a:xfrm>
            <a:off x="1764249" y="5441284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2 </a:t>
            </a:r>
            <a:r>
              <a:rPr lang="en-US" sz="800" b="1" dirty="0" err="1">
                <a:solidFill>
                  <a:srgbClr val="FF0000"/>
                </a:solidFill>
              </a:rPr>
              <a:t>Sesuaikan</a:t>
            </a:r>
            <a:endParaRPr lang="en-ID" sz="800" b="1" dirty="0">
              <a:solidFill>
                <a:srgbClr val="FF000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9AAA862-1544-E274-C33E-C57AC6C84E08}"/>
              </a:ext>
            </a:extLst>
          </p:cNvPr>
          <p:cNvSpPr txBox="1"/>
          <p:nvPr/>
        </p:nvSpPr>
        <p:spPr>
          <a:xfrm>
            <a:off x="2093134" y="5868026"/>
            <a:ext cx="68640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3 </a:t>
            </a:r>
            <a:r>
              <a:rPr lang="en-US" sz="800" b="1" dirty="0" err="1">
                <a:solidFill>
                  <a:srgbClr val="FF0000"/>
                </a:solidFill>
              </a:rPr>
              <a:t>Sesuaikan</a:t>
            </a:r>
            <a:endParaRPr lang="en-ID" sz="800" b="1" dirty="0">
              <a:solidFill>
                <a:srgbClr val="FF0000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4A8248-6648-C99F-D181-C9AB0A8F8E73}"/>
              </a:ext>
            </a:extLst>
          </p:cNvPr>
          <p:cNvSpPr txBox="1"/>
          <p:nvPr/>
        </p:nvSpPr>
        <p:spPr>
          <a:xfrm>
            <a:off x="1528287" y="4409728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4</a:t>
            </a:r>
            <a:endParaRPr lang="en-ID" sz="800" b="1" dirty="0">
              <a:solidFill>
                <a:srgbClr val="FF00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D32B24D-91DB-06C6-7C99-FA8A20C197F0}"/>
              </a:ext>
            </a:extLst>
          </p:cNvPr>
          <p:cNvSpPr txBox="1"/>
          <p:nvPr/>
        </p:nvSpPr>
        <p:spPr>
          <a:xfrm>
            <a:off x="1308814" y="5441284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6</a:t>
            </a:r>
            <a:endParaRPr lang="en-ID" sz="800" b="1" dirty="0">
              <a:solidFill>
                <a:srgbClr val="FF0000"/>
              </a:solidFill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08D37695-0C8A-6DB4-29E9-71F4AF874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9001" y="4876032"/>
            <a:ext cx="3648597" cy="1875360"/>
          </a:xfrm>
          <a:prstGeom prst="rect">
            <a:avLst/>
          </a:prstGeom>
        </p:spPr>
      </p:pic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C373BE65-3EE5-E8CC-BB8F-E041054B0DD1}"/>
              </a:ext>
            </a:extLst>
          </p:cNvPr>
          <p:cNvCxnSpPr>
            <a:cxnSpLocks/>
            <a:stCxn id="49" idx="3"/>
            <a:endCxn id="77" idx="1"/>
          </p:cNvCxnSpPr>
          <p:nvPr/>
        </p:nvCxnSpPr>
        <p:spPr>
          <a:xfrm>
            <a:off x="3406139" y="5549007"/>
            <a:ext cx="472862" cy="2647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CD01BD2C-E0A1-8978-7E3A-B5EF090EC809}"/>
              </a:ext>
            </a:extLst>
          </p:cNvPr>
          <p:cNvSpPr txBox="1"/>
          <p:nvPr/>
        </p:nvSpPr>
        <p:spPr>
          <a:xfrm>
            <a:off x="5585318" y="6517293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1</a:t>
            </a:r>
            <a:endParaRPr lang="en-ID" sz="800" b="1" dirty="0">
              <a:solidFill>
                <a:srgbClr val="FF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72CCDAF-DB82-B0BB-5B98-88ECEF46BA15}"/>
              </a:ext>
            </a:extLst>
          </p:cNvPr>
          <p:cNvSpPr txBox="1"/>
          <p:nvPr/>
        </p:nvSpPr>
        <p:spPr>
          <a:xfrm>
            <a:off x="4702384" y="5441285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b="1" dirty="0">
                <a:solidFill>
                  <a:srgbClr val="FF0000"/>
                </a:solidFill>
              </a:rPr>
              <a:t>2</a:t>
            </a:r>
            <a:endParaRPr lang="en-ID" sz="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2.2 Persiapan Sesi Operator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1. </a:t>
            </a:r>
            <a:r>
              <a:rPr sz="1300" dirty="0">
                <a:solidFill>
                  <a:srgbClr val="1A202C"/>
                </a:solidFill>
                <a:latin typeface="Calibri"/>
              </a:rPr>
              <a:t>Login sebagai Operator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2.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Pastikan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kamera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terhubung</a:t>
            </a:r>
            <a:endParaRPr sz="1300" dirty="0">
              <a:solidFill>
                <a:srgbClr val="1A202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3.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Pilih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template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dari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dropdown 'Template'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4.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Pastikan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badge SERVER &amp; CAMERA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hijau</a:t>
            </a:r>
            <a:endParaRPr sz="1300" dirty="0">
              <a:solidFill>
                <a:srgbClr val="1A202C"/>
              </a:solidFill>
              <a:latin typeface="Calibri"/>
            </a:endParaRP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5.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Klik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'Start’</a:t>
            </a:r>
            <a:r>
              <a:rPr lang="en-US" sz="1300" dirty="0">
                <a:solidFill>
                  <a:srgbClr val="1A202C"/>
                </a:solidFill>
                <a:latin typeface="Calibri"/>
              </a:rPr>
              <a:t> Jika auto start </a:t>
            </a:r>
            <a:r>
              <a:rPr lang="en-US" sz="1300" dirty="0" err="1">
                <a:solidFill>
                  <a:srgbClr val="1A202C"/>
                </a:solidFill>
                <a:latin typeface="Calibri"/>
              </a:rPr>
              <a:t>gagal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untuk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memulai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inspeksi</a:t>
            </a:r>
            <a:endParaRPr sz="1300" dirty="0">
              <a:solidFill>
                <a:srgbClr val="1A202C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8B62E-B440-A70F-2ADF-BC72A1D42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6" y="3411170"/>
            <a:ext cx="3386138" cy="25883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ED6A59-F171-74A3-9473-3DD7F14F1924}"/>
              </a:ext>
            </a:extLst>
          </p:cNvPr>
          <p:cNvSpPr txBox="1"/>
          <p:nvPr/>
        </p:nvSpPr>
        <p:spPr>
          <a:xfrm>
            <a:off x="1294079" y="4752895"/>
            <a:ext cx="1369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operator123</a:t>
            </a:r>
            <a:endParaRPr lang="en-ID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192552-CE94-0E36-7241-B863587D0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4759" y="3171825"/>
            <a:ext cx="5029423" cy="282767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23816D2-E2C9-8CEC-63DC-F3B1C0D7CAA1}"/>
              </a:ext>
            </a:extLst>
          </p:cNvPr>
          <p:cNvCxnSpPr>
            <a:cxnSpLocks/>
            <a:stCxn id="6" idx="3"/>
            <a:endCxn id="9" idx="1"/>
          </p:cNvCxnSpPr>
          <p:nvPr/>
        </p:nvCxnSpPr>
        <p:spPr>
          <a:xfrm flipV="1">
            <a:off x="3529014" y="4585660"/>
            <a:ext cx="285745" cy="1196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7F53EED-F794-DD33-2741-C52FA10D5F92}"/>
              </a:ext>
            </a:extLst>
          </p:cNvPr>
          <p:cNvSpPr txBox="1"/>
          <p:nvPr/>
        </p:nvSpPr>
        <p:spPr>
          <a:xfrm>
            <a:off x="7718691" y="358705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1</a:t>
            </a:r>
            <a:endParaRPr lang="en-ID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71E67-67C2-CB81-401F-6898CDBA7F0B}"/>
              </a:ext>
            </a:extLst>
          </p:cNvPr>
          <p:cNvSpPr txBox="1"/>
          <p:nvPr/>
        </p:nvSpPr>
        <p:spPr>
          <a:xfrm>
            <a:off x="3970604" y="33578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2</a:t>
            </a:r>
            <a:endParaRPr lang="en-ID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3.1 Start Inspeksi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Aksi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Indikator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Login sebagai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Context bar: nama operator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Pilih template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Context bar: template aktif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Pastikan kamera aktif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Badge CAMERA: CONNECTED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Klik 'Start'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Decision banner: WAITING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Session aktif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Inference berjalan di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3.2 Proses Inspeksi per Frame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Tahap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Deskripsi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Capture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Ambil frame dari kamera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Frame BGR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Part Ready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Cek part di Part Ready ROI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part_ready: true/false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Logo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Cek logo match (anti-reclamp)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logo_skip: true/false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Clamp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PLC engage clamp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Clamp: ON/OFF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Infer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YOLO predict pada ROI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Deteksi + klasifikasi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Validate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Bandingkan dengan target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ACCEPT / REJECT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Simpan ke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Counter +1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 Mode QC Sticker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129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1.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Verifikasi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sticker pada part menggunakan template matching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2. </a:t>
            </a:r>
            <a:r>
              <a:rPr sz="1300" dirty="0">
                <a:solidFill>
                  <a:srgbClr val="1A202C"/>
                </a:solidFill>
                <a:latin typeface="Calibri"/>
              </a:rPr>
              <a:t>Parameter: Expected Class, Sticker Code, Confidence Threshold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3. </a:t>
            </a:r>
            <a:r>
              <a:rPr sz="1300" dirty="0">
                <a:solidFill>
                  <a:srgbClr val="1A202C"/>
                </a:solidFill>
                <a:latin typeface="Calibri"/>
              </a:rPr>
              <a:t>Alur: Part masuk → settle → clamp → infer → validate → commit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4.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Setelah</a:t>
            </a:r>
            <a:r>
              <a:rPr sz="1300" dirty="0">
                <a:solidFill>
                  <a:srgbClr val="1A202C"/>
                </a:solidFill>
                <a:latin typeface="Calibri"/>
              </a:rPr>
              <a:t> ACCEPT: blackout timer → operator ganti part</a:t>
            </a:r>
          </a:p>
          <a:p>
            <a:pPr>
              <a:spcAft>
                <a:spcPts val="400"/>
              </a:spcAft>
            </a:pPr>
            <a:r>
              <a:rPr sz="1300" b="1" dirty="0">
                <a:solidFill>
                  <a:srgbClr val="2B6CB0"/>
                </a:solidFill>
                <a:latin typeface="Calibri"/>
              </a:rPr>
              <a:t>  5. </a:t>
            </a:r>
            <a:r>
              <a:rPr sz="1300" dirty="0">
                <a:solidFill>
                  <a:srgbClr val="1A202C"/>
                </a:solidFill>
                <a:latin typeface="Calibri"/>
              </a:rPr>
              <a:t>Reject </a:t>
            </a:r>
            <a:r>
              <a:rPr sz="1300" dirty="0" err="1">
                <a:solidFill>
                  <a:srgbClr val="1A202C"/>
                </a:solidFill>
                <a:latin typeface="Calibri"/>
              </a:rPr>
              <a:t>jika</a:t>
            </a:r>
            <a:r>
              <a:rPr sz="1300" dirty="0">
                <a:solidFill>
                  <a:srgbClr val="1A202C"/>
                </a:solidFill>
                <a:latin typeface="Calibri"/>
              </a:rPr>
              <a:t>: WRONG_TYPE, WRONG_TEXT, LOW_CONF, OUT_OF_ANGLE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4.1 Parameter Template QC Sticker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Deskripsi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Expected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Nama class sticker yang diharapkan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Sticker Code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Kode OCR yang harus terbaca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Use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Aktifkan verifikasi OCR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Min Confidence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Threshold confidence minimum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Max Tilt Degrees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Batas kemiringan sticker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Gap Threshold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Threshold match ratio part ready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6.1 Troubleshooting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Masalah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Penyebab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Solusi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Match ratio turun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Pencahayaan berubah / kamera geser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Atur exposure / capture ulang reference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Class sticker berubah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Model update / produk baru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Update Expected Class di Admin Panel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Kamera terputus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Kabel longgar / driver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Cek kabel / sistem auto-reconnect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Session error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Backend down / network issue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Stop → Start ulang / cek log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6.2 Parameter yang Sering Diubah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Lokasi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Efek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Gap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Admin → Preset 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Semakin tinggi = semakin ketat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Confidence Threshold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Admin → Preset Wizard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Filter deteksi YOLO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Max Tilt Degrees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Admin → Preset Wizard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Batas kemiringan sticker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Commit Stable Frames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Admin → Sticker Config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Frame stabil sebelum commit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4320" y="137160"/>
            <a:ext cx="8595360" cy="54864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7.1 System Status Badges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144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Badge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Hijau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Merah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Kuning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Connected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Unreachable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CAMERA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Disconnected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Reconnecting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Active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No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DB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OK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Running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No event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PLC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Connected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Error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A202C"/>
                          </a:solidFill>
                          <a:latin typeface="Calibr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EB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Terima Kasih</a:t>
            </a:r>
          </a:p>
          <a:p>
            <a:pPr algn="ctr">
              <a:defRPr sz="2000">
                <a:solidFill>
                  <a:srgbClr val="63B3ED"/>
                </a:solidFill>
                <a:latin typeface="Calibri"/>
              </a:defRPr>
            </a:pPr>
            <a:r>
              <a:t>QC Suite Operator Manual Book</a:t>
            </a:r>
          </a:p>
          <a:p>
            <a:pPr algn="ctr">
              <a:defRPr sz="1400">
                <a:solidFill>
                  <a:srgbClr val="FFFFFF"/>
                </a:solidFill>
                <a:latin typeface="Calibri"/>
              </a:defRPr>
            </a:pPr>
            <a:r>
              <a:t>PT ASKI —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634</Words>
  <Application>Microsoft Office PowerPoint</Application>
  <PresentationFormat>On-screen Show (4:3)</PresentationFormat>
  <Paragraphs>171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Dwi Putra Kunto Anggoro</cp:lastModifiedBy>
  <cp:revision>3</cp:revision>
  <dcterms:created xsi:type="dcterms:W3CDTF">2013-01-27T09:14:16Z</dcterms:created>
  <dcterms:modified xsi:type="dcterms:W3CDTF">2026-06-17T01:28:24Z</dcterms:modified>
  <cp:category/>
</cp:coreProperties>
</file>